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theme/theme1.xml" ContentType="application/vnd.openxmlformats-officedocument.theme+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sldIdLst>
    <p:sldId id="256" r:id="rId2"/>
    <p:sldId id="257" r:id="rId3"/>
    <p:sldId id="258" r:id="rId4"/>
    <p:sldId id="259" r:id="rId5"/>
    <p:sldId id="260" r:id="rId6"/>
    <p:sldId id="261" r:id="rId7"/>
    <p:sldId id="262" r:id="rId8"/>
  </p:sldIdLst>
  <p:sldSz cx="12192000" cy="6858000"/>
  <p:notesSz cx="6858000" cy="9144000"/>
</p:presentation>
</file>

<file path=ppt/_rels/presentation.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theme" Target="theme/theme1.xml"/></Relationship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838200" y="365125"/>
            <a:ext cx="10515600" cy="1000125"/>
          </a:xfrm>
          <a:prstGeom prst="rect">
            <a:avLst/>
          </a:prstGeom>
          <a:noFill/>
        </p:spPr>
        <p:txBody>
          <a:bodyPr wrap="square">
            <a:normAutofit/>
          </a:bodyPr>
          <a:lstStyle/>
          <a:p>
            <a:pPr/>
            <a:r>
              <a:rPr lang="en" sz="2800" b="1" dirty="0"/>
              <a:t>ArchSift Executive Summary</a:t>
            </a:r>
          </a:p>
        </p:txBody>
      </p:sp>
      <p:sp>
        <p:nvSpPr>
          <p:cNvPr id="3" name="Body"/>
          <p:cNvSpPr txBox="1"/>
          <p:nvPr/>
        </p:nvSpPr>
        <p:spPr>
          <a:xfrm>
            <a:off x="838200" y="1547813"/>
            <a:ext cx="10515600" cy="4471987"/>
          </a:xfrm>
          <a:prstGeom prst="rect">
            <a:avLst/>
          </a:prstGeom>
          <a:noFill/>
        </p:spPr>
        <p:txBody>
          <a:bodyPr wrap="square">
            <a:normAutofit/>
          </a:bodyPr>
          <a:lstStyle/>
          <a:p>
            <a:pPr marL="285750" indent="-285750">
              <a:buFont typeface="Arial"/>
              <a:buChar char="-"/>
            </a:pPr>
            <a:r>
              <a:rPr lang="en" sz="1400" b="0" dirty="0"/>
              <a:t>Fictional decision with an unresolved comparison</a:t>
            </a:r>
          </a:p>
          <a:p>
            <a:pPr marL="285750" indent="-285750">
              <a:buFont typeface="Arial"/>
              <a:buChar char="-"/>
            </a:pPr>
            <a:r>
              <a:rPr lang="en" sz="1400" b="0" dirty="0"/>
              <a:t>Record: sha256:8791aeda29e64e088499a7af0d3c53a772432738ae5c5885ebf20dfd284c4bf0</a:t>
            </a:r>
          </a:p>
          <a:p>
            <a:pPr marL="285750" indent="-285750">
              <a:buFont typeface="Arial"/>
              <a:buChar char="-"/>
            </a:pPr>
            <a:r>
              <a:rPr lang="en" sz="1400" b="0" dirty="0"/>
              <a:t>Vocabulary: 1.1.0</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838200" y="365125"/>
            <a:ext cx="10515600" cy="1000125"/>
          </a:xfrm>
          <a:prstGeom prst="rect">
            <a:avLst/>
          </a:prstGeom>
          <a:noFill/>
        </p:spPr>
        <p:txBody>
          <a:bodyPr wrap="square">
            <a:normAutofit/>
          </a:bodyPr>
          <a:lstStyle/>
          <a:p>
            <a:pPr/>
            <a:r>
              <a:rPr lang="en" sz="2800" b="1" dirty="0"/>
              <a:t>Summary</a:t>
            </a:r>
          </a:p>
        </p:txBody>
      </p:sp>
      <p:sp>
        <p:nvSpPr>
          <p:cNvPr id="3" name="Body"/>
          <p:cNvSpPr txBox="1"/>
          <p:nvPr/>
        </p:nvSpPr>
        <p:spPr>
          <a:xfrm>
            <a:off x="838200" y="1547813"/>
            <a:ext cx="10515600" cy="4471987"/>
          </a:xfrm>
          <a:prstGeom prst="rect">
            <a:avLst/>
          </a:prstGeom>
          <a:noFill/>
        </p:spPr>
        <p:txBody>
          <a:bodyPr wrap="square">
            <a:normAutofit/>
          </a:bodyPr>
          <a:lstStyle/>
          <a:p>
            <a:pPr marL="285750" indent="-285750">
              <a:buFont typeface="Arial"/>
              <a:buChar char="-"/>
            </a:pPr>
            <a:r>
              <a:rPr lang="en" sz="1400" b="0" dirty="0"/>
              <a:t>The task: Review one bounded synthetic case.</a:t>
            </a:r>
          </a:p>
          <a:p>
            <a:pPr marL="285750" indent="-285750">
              <a:buFont typeface="Arial"/>
              <a:buChar char="-"/>
            </a:pPr>
            <a:r>
              <a:rPr lang="en" sz="1400" b="0" dirty="0"/>
              <a:t>The result: More evidence is needed before an option can be indicated.</a:t>
            </a:r>
          </a:p>
          <a:p>
            <a:pPr marL="285750" indent="-285750">
              <a:buFont typeface="Arial"/>
              <a:buChar char="-"/>
            </a:pPr>
            <a:r>
              <a:rPr lang="en" sz="1400" b="0" dirty="0"/>
              <a:t>What happens next: Record the information listed under Result and reasoning, then run the review again; the result stays open until then.</a:t>
            </a:r>
          </a:p>
          <a:p>
            <a:pPr marL="285750" indent="-285750">
              <a:buFont typeface="Arial"/>
              <a:buChar char="-"/>
            </a:pPr>
            <a:r>
              <a:rPr lang="en" sz="1400" b="0" dirty="0"/>
              <a:t>Who decides: The decision rests with the accountable owner. The accountable owner is Fictional operations owner.</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838200" y="365125"/>
            <a:ext cx="10515600" cy="1000125"/>
          </a:xfrm>
          <a:prstGeom prst="rect">
            <a:avLst/>
          </a:prstGeom>
          <a:noFill/>
        </p:spPr>
        <p:txBody>
          <a:bodyPr wrap="square">
            <a:normAutofit/>
          </a:bodyPr>
          <a:lstStyle/>
          <a:p>
            <a:pPr/>
            <a:r>
              <a:rPr lang="en" sz="2800" b="1" dirty="0"/>
              <a:t>Business analysis</a:t>
            </a:r>
          </a:p>
        </p:txBody>
      </p:sp>
      <p:sp>
        <p:nvSpPr>
          <p:cNvPr id="3" name="Body"/>
          <p:cNvSpPr txBox="1"/>
          <p:nvPr/>
        </p:nvSpPr>
        <p:spPr>
          <a:xfrm>
            <a:off x="838200" y="1547813"/>
            <a:ext cx="10515600" cy="4471987"/>
          </a:xfrm>
          <a:prstGeom prst="rect">
            <a:avLst/>
          </a:prstGeom>
          <a:noFill/>
        </p:spPr>
        <p:txBody>
          <a:bodyPr wrap="square">
            <a:normAutofit/>
          </a:bodyPr>
          <a:lstStyle/>
          <a:p>
            <a:pPr marL="285750" indent="-285750">
              <a:buFont typeface="Arial"/>
              <a:buChar char="-"/>
            </a:pPr>
            <a:r>
              <a:rPr lang="en" sz="1400" b="0" dirty="0"/>
              <a:t>How much work is affected: Material volume.</a:t>
            </a:r>
          </a:p>
          <a:p>
            <a:pPr marL="285750" indent="-285750">
              <a:buFont typeface="Arial"/>
              <a:buChar char="-"/>
            </a:pPr>
            <a:r>
              <a:rPr lang="en" sz="1400" b="0" dirty="0"/>
              <a:t>What hurts today: Material delay.</a:t>
            </a:r>
          </a:p>
          <a:p>
            <a:pPr marL="285750" indent="-285750">
              <a:buFont typeface="Arial"/>
              <a:buChar char="-"/>
            </a:pPr>
            <a:r>
              <a:rPr lang="en" sz="1400" b="0" dirty="0"/>
              <a:t>What an error costs: Material rework.</a:t>
            </a:r>
          </a:p>
          <a:p>
            <a:pPr marL="285750" indent="-285750">
              <a:buFont typeface="Arial"/>
              <a:buChar char="-"/>
            </a:pPr>
            <a:r>
              <a:rPr lang="en" sz="1400" b="0" dirty="0"/>
              <a:t>Why technology may be the limit: Current tooling limits retrieval.</a:t>
            </a:r>
          </a:p>
          <a:p>
            <a:pPr marL="285750" indent="-285750">
              <a:buFont typeface="Arial"/>
              <a:buChar char="-"/>
            </a:pPr>
            <a:r>
              <a:rPr lang="en" sz="1400" b="0" dirty="0"/>
              <a:t>How the work runs today: It starts when: A complete case arrives. It is complete when: An approved disposition is recorded.</a:t>
            </a:r>
          </a:p>
          <a:p>
            <a:pPr marL="285750" indent="-285750">
              <a:buFont typeface="Arial"/>
              <a:buChar char="-"/>
            </a:pPr>
            <a:r>
              <a:rPr lang="en" sz="1400" b="0" dirty="0"/>
              <a:t>Who takes part: Reviewer, Approver.</a:t>
            </a:r>
          </a:p>
          <a:p>
            <a:pPr marL="285750" indent="-285750">
              <a:buFont typeface="Arial"/>
              <a:buChar char="-"/>
            </a:pPr>
            <a:r>
              <a:rPr lang="en" sz="1400" b="0" dirty="0"/>
              <a:t>Accountable owner: Fictional operations owner.</a:t>
            </a:r>
          </a:p>
          <a:p>
            <a:pPr marL="285750" indent="-285750">
              <a:buFont typeface="Arial"/>
              <a:buChar char="-"/>
            </a:pPr>
            <a:r>
              <a:rPr lang="en" sz="1400" b="0" dirty="0"/>
              <a:t>Step 1: Prepare the bounded disposition. This step is not consequential. No person-required step or absolute stop condition binds this step.</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838200" y="365125"/>
            <a:ext cx="10515600" cy="1000125"/>
          </a:xfrm>
          <a:prstGeom prst="rect">
            <a:avLst/>
          </a:prstGeom>
          <a:noFill/>
        </p:spPr>
        <p:txBody>
          <a:bodyPr wrap="square">
            <a:normAutofit/>
          </a:bodyPr>
          <a:lstStyle/>
          <a:p>
            <a:pPr/>
            <a:r>
              <a:rPr lang="en" sz="2800" b="1" dirty="0"/>
              <a:t>Business analysis (continued)</a:t>
            </a:r>
          </a:p>
        </p:txBody>
      </p:sp>
      <p:sp>
        <p:nvSpPr>
          <p:cNvPr id="3" name="Body"/>
          <p:cNvSpPr txBox="1"/>
          <p:nvPr/>
        </p:nvSpPr>
        <p:spPr>
          <a:xfrm>
            <a:off x="838200" y="1547813"/>
            <a:ext cx="10515600" cy="4471987"/>
          </a:xfrm>
          <a:prstGeom prst="rect">
            <a:avLst/>
          </a:prstGeom>
          <a:noFill/>
        </p:spPr>
        <p:txBody>
          <a:bodyPr wrap="square">
            <a:normAutofit/>
          </a:bodyPr>
          <a:lstStyle/>
          <a:p>
            <a:pPr marL="285750" indent="-285750">
              <a:buFont typeface="Arial"/>
              <a:buChar char="-"/>
            </a:pPr>
            <a:r>
              <a:rPr lang="en" sz="1400" b="0" dirty="0"/>
              <a:t>Step 2: Release the approved disposition. This step is consequential. A person must perform or confirm this step: Approve the fictional disposition before release (Fictional approver). It stops if: The fictional disposition would be released without approval.</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838200" y="365125"/>
            <a:ext cx="10515600" cy="1000125"/>
          </a:xfrm>
          <a:prstGeom prst="rect">
            <a:avLst/>
          </a:prstGeom>
          <a:noFill/>
        </p:spPr>
        <p:txBody>
          <a:bodyPr wrap="square">
            <a:normAutofit/>
          </a:bodyPr>
          <a:lstStyle/>
          <a:p>
            <a:pPr/>
            <a:r>
              <a:rPr lang="en" sz="2800" b="1" dirty="0"/>
              <a:t>Result and reasoning</a:t>
            </a:r>
          </a:p>
        </p:txBody>
      </p:sp>
      <p:sp>
        <p:nvSpPr>
          <p:cNvPr id="3" name="Body"/>
          <p:cNvSpPr txBox="1"/>
          <p:nvPr/>
        </p:nvSpPr>
        <p:spPr>
          <a:xfrm>
            <a:off x="838200" y="1547813"/>
            <a:ext cx="10515600" cy="4471987"/>
          </a:xfrm>
          <a:prstGeom prst="rect">
            <a:avLst/>
          </a:prstGeom>
          <a:noFill/>
        </p:spPr>
        <p:txBody>
          <a:bodyPr wrap="square">
            <a:normAutofit/>
          </a:bodyPr>
          <a:lstStyle/>
          <a:p>
            <a:pPr marL="285750" indent="-285750">
              <a:buFont typeface="Arial"/>
              <a:buChar char="-"/>
            </a:pPr>
            <a:r>
              <a:rPr lang="en" sz="1400" b="0" dirty="0"/>
              <a:t>Option: Fictional human review. People follow the bounded review procedure using the existing register. Kind: people do the work. Standing: ruled out. Stop flag: The recorded evidence shows Fictional human review does not reach the required outcome Meet required quality. The option cannot be the indicated option. Fit flag: The recorded evidence shows Fictional human review meets the binding constraint Human approval is required. This supports the option; it never outweighs a stop or a gap.</a:t>
            </a:r>
          </a:p>
          <a:p>
            <a:pPr marL="285750" indent="-285750">
              <a:buFont typeface="Arial"/>
              <a:buChar char="-"/>
            </a:pPr>
            <a:r>
              <a:rPr lang="en" sz="1400" b="0" dirty="0"/>
              <a:t>Option: Fictional fixed AI workflow. Code fixes the path while a model assists within the bounded preparation action. Kind: AI inside a fixed workflow. Standing: still open. Gap flag: The test of Fictional fixed AI workflow against Meet required quality has no recorded result. The result cannot be reached until this is recorded. Fit flag: The recorded evidence shows Fictional fixed AI workflow meets the binding constraint Human approval is required. This supports the option; it never outweighs a stop or a gap.</a:t>
            </a:r>
          </a:p>
          <a:p>
            <a:pPr marL="285750" indent="-285750">
              <a:buFont typeface="Arial"/>
              <a:buChar char="-"/>
            </a:pPr>
            <a:r>
              <a:rPr lang="en" sz="1400" b="0" dirty="0"/>
              <a:t>The options as a whole: Gap flag: The comparison of Fictional fixed AI workflow with Fictional human review on quality of the outcome has no recorded result. The result cannot be reached until this is recorded.</a:t>
            </a:r>
          </a:p>
          <a:p>
            <a:pPr marL="285750" indent="-285750">
              <a:buFont typeface="Arial"/>
              <a:buChar char="-"/>
            </a:pPr>
            <a:r>
              <a:rPr lang="en" sz="1400" b="0" dirty="0"/>
              <a:t>Strongest simpler alternative: Fictional human review. The selected candidate is the strongest represented simpler option.</a:t>
            </a:r>
          </a:p>
          <a:p>
            <a:pPr marL="285750" indent="-285750">
              <a:buFont typeface="Arial"/>
              <a:buChar char="-"/>
            </a:pPr>
            <a:r>
              <a:rPr lang="en" sz="1400" b="0" dirty="0"/>
              <a:t>Absolute stop condition: The fictional disposition would be released without approval. Then: Release is prohibited until a fictional approver accepts it.</a:t>
            </a:r>
          </a:p>
          <a:p>
            <a:pPr marL="285750" indent="-285750">
              <a:buFont typeface="Arial"/>
              <a:buChar char="-"/>
            </a:pPr>
            <a:r>
              <a:rPr lang="en" sz="1400" b="0" dirty="0"/>
              <a:t>Person-required step: Approve the fictional disposition before release. When: Immediately before release-disposition. Who: Fictional approver.</a:t>
            </a:r>
          </a:p>
          <a:p>
            <a:pPr marL="285750" indent="-285750">
              <a:buFont typeface="Arial"/>
              <a:buChar char="-"/>
            </a:pPr>
            <a:r>
              <a:rPr lang="en" sz="1400" b="0" dirty="0"/>
              <a:t>Already determined: Ruled out: people do the work. Still open: AI inside a fixed workflow.</a:t>
            </a:r>
          </a:p>
          <a:p>
            <a:pPr marL="285750" indent="-285750">
              <a:buFont typeface="Arial"/>
              <a:buChar char="-"/>
            </a:pPr>
            <a:r>
              <a:rPr lang="en" sz="1400" b="0" dirty="0"/>
              <a:t>What would settle the rest: The test of Fictional fixed AI workflow against Meet required quality has no recorded result. Record whether the option meets it, with evidence.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838200" y="365125"/>
            <a:ext cx="10515600" cy="1000125"/>
          </a:xfrm>
          <a:prstGeom prst="rect">
            <a:avLst/>
          </a:prstGeom>
          <a:noFill/>
        </p:spPr>
        <p:txBody>
          <a:bodyPr wrap="square">
            <a:normAutofit/>
          </a:bodyPr>
          <a:lstStyle/>
          <a:p>
            <a:pPr/>
            <a:r>
              <a:rPr lang="en" sz="2800" b="1" dirty="0"/>
              <a:t>Result and reasoning (continued)</a:t>
            </a:r>
          </a:p>
        </p:txBody>
      </p:sp>
      <p:sp>
        <p:nvSpPr>
          <p:cNvPr id="3" name="Body"/>
          <p:cNvSpPr txBox="1"/>
          <p:nvPr/>
        </p:nvSpPr>
        <p:spPr>
          <a:xfrm>
            <a:off x="838200" y="1547813"/>
            <a:ext cx="10515600" cy="4471987"/>
          </a:xfrm>
          <a:prstGeom prst="rect">
            <a:avLst/>
          </a:prstGeom>
          <a:noFill/>
        </p:spPr>
        <p:txBody>
          <a:bodyPr wrap="square">
            <a:normAutofit/>
          </a:bodyPr>
          <a:lstStyle/>
          <a:p>
            <a:pPr marL="285750" indent="-285750">
              <a:buFont typeface="Arial"/>
              <a:buChar char="-"/>
            </a:pPr>
            <a:r>
              <a:rPr lang="en" sz="1400" b="0" dirty="0"/>
              <a:t>What would settle the rest: The comparison of Fictional fixed AI workflow with Fictional human review on quality of the outcome has no recorded result. Record whether the option is better, equivalent, or worse on that point, with evidence.</a:t>
            </a:r>
          </a:p>
          <a:p>
            <a:pPr marL="285750" indent="-285750">
              <a:buFont typeface="Arial"/>
              <a:buChar char="-"/>
            </a:pPr>
            <a:r>
              <a:rPr lang="en" sz="1400" b="0" dirty="0"/>
              <a:t>How to read the flags: Stop flag: The option cannot be the indicated option under the rules. Gap flag: Material evidence is missing; the option stays open until it is recorded. Condition flag: The option stays open only with the named person-required step kept. Fit flag: The evidence supports the option on this point; it never outweighs a stop or a gap. Noted flag: Recorded for completeness; it does not change the option's standing.</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838200" y="365125"/>
            <a:ext cx="10515600" cy="1000125"/>
          </a:xfrm>
          <a:prstGeom prst="rect">
            <a:avLst/>
          </a:prstGeom>
          <a:noFill/>
        </p:spPr>
        <p:txBody>
          <a:bodyPr wrap="square">
            <a:normAutofit/>
          </a:bodyPr>
          <a:lstStyle/>
          <a:p>
            <a:pPr/>
            <a:r>
              <a:rPr lang="en" sz="2800" b="1" dirty="0"/>
              <a:t>Masking Notice</a:t>
            </a:r>
          </a:p>
        </p:txBody>
      </p:sp>
      <p:sp>
        <p:nvSpPr>
          <p:cNvPr id="3" name="Body"/>
          <p:cNvSpPr txBox="1"/>
          <p:nvPr/>
        </p:nvSpPr>
        <p:spPr>
          <a:xfrm>
            <a:off x="838200" y="1547813"/>
            <a:ext cx="10515600" cy="4471987"/>
          </a:xfrm>
          <a:prstGeom prst="rect">
            <a:avLst/>
          </a:prstGeom>
          <a:noFill/>
        </p:spPr>
        <p:txBody>
          <a:bodyPr wrap="square">
            <a:normAutofit/>
          </a:bodyPr>
          <a:lstStyle/>
          <a:p>
            <a:pPr marL="285750" indent="-285750">
              <a:buFont typeface="Arial"/>
              <a:buChar char="-"/>
            </a:pPr>
            <a:r>
              <a:rPr lang="en" sz="1400" b="0" dirty="0"/>
              <a:t>Policy version: 1</a:t>
            </a:r>
          </a:p>
          <a:p>
            <a:pPr marL="285750" indent="-285750">
              <a:buFont typeface="Arial"/>
              <a:buChar char="-"/>
            </a:pPr>
            <a:r>
              <a:rPr lang="en" sz="1400" b="0" dirty="0"/>
              <a:t>This record was emitted with deterministic sensitive-value masking (policy version 1). It is not guaranteed to be sensitive-data-free and still requires handling appropriate to its source material.</a:t>
            </a:r>
          </a:p>
        </p:txBody>
      </p:sp>
    </p:spTree>
  </p:cSld>
  <p:clrMapOvr>
    <a:masterClrMapping/>
  </p:clrMapOvr>
</p:sld>
</file>

<file path=ppt/theme/theme1.xml><?xml version="1.0" encoding="utf-8"?>
<a:theme xmlns:a="http://schemas.openxmlformats.org/drawingml/2006/main" name="ArchSift">
  <a:themeElements>
    <a:clrScheme name="ArchSift">
      <a:dk1>
        <a:sysClr val="windowText" lastClr="000000"/>
      </a:dk1>
      <a:lt1>
        <a:sysClr val="window" lastClr="FFFFFF"/>
      </a:lt1>
      <a:dk2>
        <a:srgbClr val="1F2933"/>
      </a:dk2>
      <a:lt2>
        <a:srgbClr val="F5F7FA"/>
      </a:lt2>
      <a:accent1>
        <a:srgbClr val="2B6CB0"/>
      </a:accent1>
      <a:accent2>
        <a:srgbClr val="2C7A7B"/>
      </a:accent2>
      <a:accent3>
        <a:srgbClr val="975A16"/>
      </a:accent3>
      <a:accent4>
        <a:srgbClr val="9B2C2C"/>
      </a:accent4>
      <a:accent5>
        <a:srgbClr val="553C9A"/>
      </a:accent5>
      <a:accent6>
        <a:srgbClr val="2F855A"/>
      </a:accent6>
      <a:hlink>
        <a:srgbClr val="2B6CB0"/>
      </a:hlink>
      <a:folHlink>
        <a:srgbClr val="553C9A"/>
      </a:folHlink>
    </a:clrScheme>
    <a:fontScheme name="ArchSift">
      <a:majorFont>
        <a:latin typeface="Arial"/>
        <a:ea typeface=""/>
        <a:cs typeface=""/>
      </a:majorFont>
      <a:minorFont>
        <a:latin typeface="Arial"/>
        <a:ea typeface=""/>
        <a:cs typeface=""/>
      </a:minorFont>
    </a:fontScheme>
    <a:fmtScheme name="ArchSift">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ArchSift</Application>
  <Slides>7</Slides>
  <ScaleCrop>false</ScaleCrop>
  <LinksUpToDate>false</LinksUpToDate>
  <SharedDoc>false</SharedDoc>
  <HyperlinksChanged>false</HyperlinksChanged>
</Properties>
</file>

<file path=docProps/core.xml><?xml version="1.0" encoding="utf-8"?>
<cp:coreProperties xmlns:cp="http://schemas.openxmlformats.org/package/2006/metadata/core-properties" xmlns:dc="http://purl.org/dc/elements/1.1/">
  <dc:title>ArchSift Executive Summary</dc:title>
  <dc:subject>Fictional decision with an unresolved comparison</dc:subject>
  <dc:identifier>sha256:8791aeda29e64e088499a7af0d3c53a772432738ae5c5885ebf20dfd284c4bf0</dc:identifier>
  <cp:revision>1</cp:revision>
</cp:coreProperties>
</file>