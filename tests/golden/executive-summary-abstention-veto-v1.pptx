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ArchSift Executive Summary</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Fictional decision with an unresolved comparison</a:t>
            </a:r>
          </a:p>
          <a:p>
            <a:pPr marL="285750" indent="-285750">
              <a:buFont typeface="Arial"/>
              <a:buChar char="-"/>
            </a:pPr>
            <a:r>
              <a:rPr lang="en" sz="1400" b="0" dirty="0"/>
              <a:t>Record: sha256:8791aeda29e64e088499a7af0d3c53a772432738ae5c5885ebf20dfd284c4bf0</a:t>
            </a:r>
          </a:p>
          <a:p>
            <a:pPr marL="285750" indent="-285750">
              <a:buFont typeface="Arial"/>
              <a:buChar char="-"/>
            </a:pPr>
            <a:r>
              <a:rPr lang="en" sz="1400" b="0" dirty="0"/>
              <a:t>Vocabulary: 1.3.0</a:t>
            </a:r>
          </a:p>
          <a:p>
            <a:pPr marL="285750" indent="-285750">
              <a:buFont typeface="Arial"/>
              <a:buChar char="-"/>
            </a:pPr>
            <a:r>
              <a:rPr lang="en" sz="1400" b="0" dirty="0"/>
              <a:t>Framework: 1.0.0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Summary</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The task: Review one bounded synthetic case.</a:t>
            </a:r>
          </a:p>
          <a:p>
            <a:pPr marL="285750" indent="-285750">
              <a:buFont typeface="Arial"/>
              <a:buChar char="-"/>
            </a:pPr>
            <a:r>
              <a:rPr lang="en" sz="1400" b="0" dirty="0"/>
              <a:t>The result: More evidence is needed before an option can be indicated.</a:t>
            </a:r>
          </a:p>
          <a:p>
            <a:pPr marL="285750" indent="-285750">
              <a:buFont typeface="Arial"/>
              <a:buChar char="-"/>
            </a:pPr>
            <a:r>
              <a:rPr lang="en" sz="1400" b="0" dirty="0"/>
              <a:t>What happens next: Record the information listed under Result and reasoning, then run the review again; the result stays open until then.</a:t>
            </a:r>
          </a:p>
          <a:p>
            <a:pPr marL="285750" indent="-285750">
              <a:buFont typeface="Arial"/>
              <a:buChar char="-"/>
            </a:pPr>
            <a:r>
              <a:rPr lang="en" sz="1400" b="0" dirty="0"/>
              <a:t>Who decides: The decision rests with the accountable owner. The accountable owner is Fictional operations owner.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Business analysis</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How much work is affected: Material volume.</a:t>
            </a:r>
          </a:p>
          <a:p>
            <a:pPr marL="285750" indent="-285750">
              <a:buFont typeface="Arial"/>
              <a:buChar char="-"/>
            </a:pPr>
            <a:r>
              <a:rPr lang="en" sz="1400" b="0" dirty="0"/>
              <a:t>What hurts today: Material delay.</a:t>
            </a:r>
          </a:p>
          <a:p>
            <a:pPr marL="285750" indent="-285750">
              <a:buFont typeface="Arial"/>
              <a:buChar char="-"/>
            </a:pPr>
            <a:r>
              <a:rPr lang="en" sz="1400" b="0" dirty="0"/>
              <a:t>What an error costs: Material rework.</a:t>
            </a:r>
          </a:p>
          <a:p>
            <a:pPr marL="285750" indent="-285750">
              <a:buFont typeface="Arial"/>
              <a:buChar char="-"/>
            </a:pPr>
            <a:r>
              <a:rPr lang="en" sz="1400" b="0" dirty="0"/>
              <a:t>Why technology may be the limit: Current tooling limits retrieval.</a:t>
            </a:r>
          </a:p>
          <a:p>
            <a:pPr marL="285750" indent="-285750">
              <a:buFont typeface="Arial"/>
              <a:buChar char="-"/>
            </a:pPr>
            <a:r>
              <a:rPr lang="en" sz="1400" b="0" dirty="0"/>
              <a:t>How the work runs today: It starts when: A complete case arrives. It is complete when: An approved disposition is recorded.</a:t>
            </a:r>
          </a:p>
          <a:p>
            <a:pPr marL="285750" indent="-285750">
              <a:buFont typeface="Arial"/>
              <a:buChar char="-"/>
            </a:pPr>
            <a:r>
              <a:rPr lang="en" sz="1400" b="0" dirty="0"/>
              <a:t>Who takes part: Reviewer, Approver.</a:t>
            </a:r>
          </a:p>
          <a:p>
            <a:pPr marL="285750" indent="-285750">
              <a:buFont typeface="Arial"/>
              <a:buChar char="-"/>
            </a:pPr>
            <a:r>
              <a:rPr lang="en" sz="1400" b="0" dirty="0"/>
              <a:t>Accountable owner: Fictional operations owner.</a:t>
            </a:r>
          </a:p>
          <a:p>
            <a:pPr marL="285750" indent="-285750">
              <a:buFont typeface="Arial"/>
              <a:buChar char="-"/>
            </a:pPr>
            <a:r>
              <a:rPr lang="en" sz="1400" b="0" dirty="0"/>
              <a:t>Step 1: Prepare the bounded disposition. This step is not consequential. No person-required step or absolute stop condition binds this step.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Business analysis (continued)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Step 2: Release the approved disposition. This step is consequential. A person must perform or confirm this step: Approve the fictional disposition before release (Fictional approver). It stops if: The fictional disposition would be released without approval.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Result and reasoning</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Option: Fictional human review. People follow the bounded review procedure using the existing register. Kind: people do the work. Standing: ruled out. Stop flag (framework rule 2): The recorded evidence shows Fictional human review does not reach the required outcome Meet required quality. The option cannot be the indicated option. Fit flag (framework rule 2): The recorded evidence shows Fictional human review meets the binding constraint Human approval is required. This supports the option; it never outweighs a stop or a gap.</a:t>
            </a:r>
          </a:p>
          <a:p>
            <a:pPr marL="285750" indent="-285750">
              <a:buFont typeface="Arial"/>
              <a:buChar char="-"/>
            </a:pPr>
            <a:r>
              <a:rPr lang="en" sz="1400" b="0" dirty="0"/>
              <a:t>Option: Fictional fixed AI workflow. Code fixes the path while a model assists within the bounded preparation action. Kind: AI inside a fixed workflow. Standing: still open. Gap flag (framework rule 2): The test of Fictional fixed AI workflow against Meet required quality has no recorded result. The result cannot be reached until this is recorded. Fit flag (framework rule 2): The recorded evidence shows Fictional fixed AI workflow meets the binding constraint Human approval is required. This supports the option; it never outweighs a stop or a gap.</a:t>
            </a:r>
          </a:p>
          <a:p>
            <a:pPr marL="285750" indent="-285750">
              <a:buFont typeface="Arial"/>
              <a:buChar char="-"/>
            </a:pPr>
            <a:r>
              <a:rPr lang="en" sz="1400" b="0" dirty="0"/>
              <a:t>The options as a whole: Gap flag (framework rule 8): The comparison of Fictional fixed AI workflow with Fictional human review on quality of the outcome has no recorded result. The result cannot be reached until this is recorded.</a:t>
            </a:r>
          </a:p>
          <a:p>
            <a:pPr marL="285750" indent="-285750">
              <a:buFont typeface="Arial"/>
              <a:buChar char="-"/>
            </a:pPr>
            <a:r>
              <a:rPr lang="en" sz="1400" b="0" dirty="0"/>
              <a:t>Strongest simpler alternative: Fictional human review. The selected candidate is the strongest represented simpler option.</a:t>
            </a:r>
          </a:p>
          <a:p>
            <a:pPr marL="285750" indent="-285750">
              <a:buFont typeface="Arial"/>
              <a:buChar char="-"/>
            </a:pPr>
            <a:r>
              <a:rPr lang="en" sz="1400" b="0" dirty="0"/>
              <a:t>Absolute stop condition: The fictional disposition would be released without approval. Then: Release is prohibited until a fictional approver accepts it.</a:t>
            </a:r>
          </a:p>
          <a:p>
            <a:pPr marL="285750" indent="-285750">
              <a:buFont typeface="Arial"/>
              <a:buChar char="-"/>
            </a:pPr>
            <a:r>
              <a:rPr lang="en" sz="1400" b="0" dirty="0"/>
              <a:t>Person-required step: Approve the fictional disposition before release. When: Immediately before release-disposition. Who: Fictional approver.</a:t>
            </a:r>
          </a:p>
          <a:p>
            <a:pPr marL="285750" indent="-285750">
              <a:buFont typeface="Arial"/>
              <a:buChar char="-"/>
            </a:pPr>
            <a:r>
              <a:rPr lang="en" sz="1400" b="0" dirty="0"/>
              <a:t>Already determined: Ruled out: people do the work. Still open: AI inside a fixed workflow.</a:t>
            </a:r>
          </a:p>
          <a:p>
            <a:pPr marL="285750" indent="-285750">
              <a:buFont typeface="Arial"/>
              <a:buChar char="-"/>
            </a:pPr>
            <a:r>
              <a:rPr lang="en" sz="1400" b="0" dirty="0"/>
              <a:t>What would settle the rest: The test of Fictional fixed AI workflow against Meet required quality has no recorded result. Record whether the option meets it, with evidence.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Result and reasoning (continued)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What would settle the rest: The comparison of Fictional fixed AI workflow with Fictional human review on quality of the outcome has no recorded result. Record whether the option is better, equivalent, or worse on that point, with evidence.</a:t>
            </a:r>
          </a:p>
          <a:p>
            <a:pPr marL="285750" indent="-285750">
              <a:buFont typeface="Arial"/>
              <a:buChar char="-"/>
            </a:pPr>
            <a:r>
              <a:rPr lang="en" sz="1400" b="0" dirty="0"/>
              <a:t>How to read the flags: Stop flag: The option cannot be the indicated option under the rules. Gap flag: Material evidence is missing; the option stays open until it is recorded. Condition flag: The option stays open only with the named person-required step kept. Fit flag: The evidence supports the option on this point; it never outweighs a stop or a gap. Noted flag: Recorded for completeness; it does not change the option's standing.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How the result was reached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The four questions:</a:t>
            </a:r>
          </a:p>
          <a:p>
            <a:pPr marL="285750" indent="-285750">
              <a:buFont typeface="Arial"/>
              <a:buChar char="-"/>
            </a:pPr>
            <a:r>
              <a:rPr lang="en" sz="1400" b="0" dirty="0"/>
              <a:t>- Is there a problem worth solving? The case must name a bounded task, the required outcomes with today's baseline, and why the problem is worth solving.</a:t>
            </a:r>
          </a:p>
          <a:p>
            <a:pPr marL="285750" indent="-285750">
              <a:buFont typeface="Arial"/>
              <a:buChar char="-"/>
            </a:pPr>
            <a:r>
              <a:rPr lang="en" sz="1400" b="0" dirty="0"/>
              <a:t>- Must a model choose the steps at run time? The case must show whether the steps can be fixed in advance or a model must choose them while the work runs.</a:t>
            </a:r>
          </a:p>
          <a:p>
            <a:pPr marL="285750" indent="-285750">
              <a:buFont typeface="Arial"/>
              <a:buChar char="-"/>
            </a:pPr>
            <a:r>
              <a:rPr lang="en" sz="1400" b="0" dirty="0"/>
              <a:t>- Which actions may be handed over, and which must a person keep? The case must record which actions may be handed over, which a person must keep, and the conditions under which nothing may proceed.</a:t>
            </a:r>
          </a:p>
          <a:p>
            <a:pPr marL="285750" indent="-285750">
              <a:buFont typeface="Arial"/>
              <a:buChar char="-"/>
            </a:pPr>
            <a:r>
              <a:rPr lang="en" sz="1400" b="0" dirty="0"/>
              <a:t>- Which option fits best against the simpler alternatives? The options must be tested against the same outcomes and constraints and compared with the simpler alternatives on the same points.</a:t>
            </a:r>
          </a:p>
          <a:p>
            <a:pPr marL="285750" indent="-285750">
              <a:buFont typeface="Arial"/>
              <a:buChar char="-"/>
            </a:pPr>
            <a:r>
              <a:rPr lang="en" sz="1400" b="0" dirty="0"/>
              <a:t>The five options, from least to most run-time freedom:</a:t>
            </a:r>
          </a:p>
          <a:p>
            <a:pPr marL="285750" indent="-285750">
              <a:buFont typeface="Arial"/>
              <a:buChar char="-"/>
            </a:pPr>
            <a:r>
              <a:rPr lang="en" sz="1400" b="0" dirty="0"/>
              <a:t>- people do the work: People carry out the work as they do today.</a:t>
            </a:r>
          </a:p>
          <a:p>
            <a:pPr marL="285750" indent="-285750">
              <a:buFont typeface="Arial"/>
              <a:buChar char="-"/>
            </a:pPr>
            <a:r>
              <a:rPr lang="en" sz="1400" b="0" dirty="0"/>
              <a:t>- redesign the process first: The process is changed first, without new technology carrying the 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How the result was reached (continued)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 rule-based automation: Software follows fixed rules; no model takes part.</a:t>
            </a:r>
          </a:p>
          <a:p>
            <a:pPr marL="285750" indent="-285750">
              <a:buFont typeface="Arial"/>
              <a:buChar char="-"/>
            </a:pPr>
            <a:r>
              <a:rPr lang="en" sz="1400" b="0" dirty="0"/>
              <a:t>- AI inside a fixed workflow: Code fixes the steps and a model works inside one or more of them.</a:t>
            </a:r>
          </a:p>
          <a:p>
            <a:pPr marL="285750" indent="-285750">
              <a:buFont typeface="Arial"/>
              <a:buChar char="-"/>
            </a:pPr>
            <a:r>
              <a:rPr lang="en" sz="1400" b="0" dirty="0"/>
              <a:t>- AI that chooses its own steps: A model decides which steps to take, and in what order, while the work runs.</a:t>
            </a:r>
          </a:p>
          <a:p>
            <a:pPr marL="285750" indent="-285750">
              <a:buFont typeface="Arial"/>
              <a:buChar char="-"/>
            </a:pPr>
            <a:r>
              <a:rPr lang="en" sz="1400" b="0" dirty="0"/>
              <a:t>The flags:</a:t>
            </a:r>
          </a:p>
          <a:p>
            <a:pPr marL="285750" indent="-285750">
              <a:buFont typeface="Arial"/>
              <a:buChar char="-"/>
            </a:pPr>
            <a:r>
              <a:rPr lang="en" sz="1400" b="0" dirty="0"/>
              <a:t>- stop flag: The option cannot be the indicated option under the rules.</a:t>
            </a:r>
          </a:p>
          <a:p>
            <a:pPr marL="285750" indent="-285750">
              <a:buFont typeface="Arial"/>
              <a:buChar char="-"/>
            </a:pPr>
            <a:r>
              <a:rPr lang="en" sz="1400" b="0" dirty="0"/>
              <a:t>- gap flag: Material evidence is missing; the option stays open until it is recorded.</a:t>
            </a:r>
          </a:p>
          <a:p>
            <a:pPr marL="285750" indent="-285750">
              <a:buFont typeface="Arial"/>
              <a:buChar char="-"/>
            </a:pPr>
            <a:r>
              <a:rPr lang="en" sz="1400" b="0" dirty="0"/>
              <a:t>- condition flag: The option stays open only with the named person-required step kept.</a:t>
            </a:r>
          </a:p>
          <a:p>
            <a:pPr marL="285750" indent="-285750">
              <a:buFont typeface="Arial"/>
              <a:buChar char="-"/>
            </a:pPr>
            <a:r>
              <a:rPr lang="en" sz="1400" b="0" dirty="0"/>
              <a:t>- fit flag: The evidence supports the option on this point; it never outweighs a stop or a gap.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How the result was reached (continued)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 noted flag: Recorded for completeness; it does not change the option's standing.</a:t>
            </a:r>
          </a:p>
          <a:p>
            <a:pPr marL="285750" indent="-285750">
              <a:buFont typeface="Arial"/>
              <a:buChar char="-"/>
            </a:pPr>
            <a:r>
              <a:rPr lang="en" sz="1400" b="0" dirty="0"/>
              <a:t>The framework rules:</a:t>
            </a:r>
          </a:p>
          <a:p>
            <a:pPr marL="285750" indent="-285750">
              <a:buFont typeface="Arial"/>
              <a:buChar char="-"/>
            </a:pPr>
            <a:r>
              <a:rPr lang="en" sz="1400" b="0" dirty="0"/>
              <a:t>Is there a problem worth solving?</a:t>
            </a:r>
          </a:p>
          <a:p>
            <a:pPr marL="285750" indent="-285750">
              <a:buFont typeface="Arial"/>
              <a:buChar char="-"/>
            </a:pPr>
            <a:r>
              <a:rPr lang="en" sz="1400" b="0" dirty="0"/>
              <a:t>  Rule 1. Until the case records a bounded task, measurable required outcomes with today's baseline, and the four value statements, a gap flag is raised on the options as a whole.</a:t>
            </a:r>
          </a:p>
          <a:p>
            <a:pPr marL="285750" indent="-285750">
              <a:buFont typeface="Arial"/>
              <a:buChar char="-"/>
            </a:pPr>
            <a:r>
              <a:rPr lang="en" sz="1400" b="0" dirty="0"/>
              <a:t>  Rule 2. An option that credibly does not reach a required outcome or does not meet a required constraint carries a stop flag; one that credibly does carries a fit flag; a test with no recorded result or without acceptable evidence carries a gap flag.</a:t>
            </a:r>
          </a:p>
          <a:p>
            <a:pPr marL="285750" indent="-285750">
              <a:buFont typeface="Arial"/>
              <a:buChar char="-"/>
            </a:pPr>
            <a:r>
              <a:rPr lang="en" sz="1400" b="0" dirty="0"/>
              <a:t>Must a model choose the steps at run time?</a:t>
            </a:r>
          </a:p>
          <a:p>
            <a:pPr marL="285750" indent="-285750">
              <a:buFont typeface="Arial"/>
              <a:buChar char="-"/>
            </a:pPr>
            <a:r>
              <a:rPr lang="en" sz="1400" b="0" dirty="0"/>
              <a:t>  Rule 3. Every run-time question, and every case a fixed sequence cannot handle, must have a known answer with acceptable evidence; otherwise a gap flag is raised.</a:t>
            </a:r>
          </a:p>
          <a:p>
            <a:pPr marL="285750" indent="-285750">
              <a:buFont typeface="Arial"/>
              <a:buChar char="-"/>
            </a:pPr>
            <a:r>
              <a:rPr lang="en" sz="1400" b="0" dirty="0"/>
              <a:t>  Rule 4. The option in which AI chooses its own steps carries a stop flag when a fixed sequence of steps is credibly sufficient, when no run-time tool choice or replanning is needed, or when the environment gives no feedback; it carries a fit flag when the evidence credibly shows the opposite.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How the result was reached (continued)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Which actions may be handed over, and which must a person keep?</a:t>
            </a:r>
          </a:p>
          <a:p>
            <a:pPr marL="285750" indent="-285750">
              <a:buFont typeface="Arial"/>
              <a:buChar char="-"/>
            </a:pPr>
            <a:r>
              <a:rPr lang="en" sz="1400" b="0" dirty="0"/>
              <a:t>  Rule 5. Every hand-over question, absolute stop condition, person-required step, and claim of authority over an action must be recorded with a known answer or status and acceptable evidence; otherwise a gap flag is raised.</a:t>
            </a:r>
          </a:p>
          <a:p>
            <a:pPr marL="285750" indent="-285750">
              <a:buFont typeface="Arial"/>
              <a:buChar char="-"/>
            </a:pPr>
            <a:r>
              <a:rPr lang="en" sz="1400" b="0" dirty="0"/>
              <a:t>  Rule 6. An option that would act where an absolute stop condition is in force, or that drops a person-required step, carries a stop flag; an option that keeps the step carries a condition flag.</a:t>
            </a:r>
          </a:p>
          <a:p>
            <a:pPr marL="285750" indent="-285750">
              <a:buFont typeface="Arial"/>
              <a:buChar char="-"/>
            </a:pPr>
            <a:r>
              <a:rPr lang="en" sz="1400" b="0" dirty="0"/>
              <a:t>Which option fits best against the simpler alternatives?</a:t>
            </a:r>
          </a:p>
          <a:p>
            <a:pPr marL="285750" indent="-285750">
              <a:buFont typeface="Arial"/>
              <a:buChar char="-"/>
            </a:pPr>
            <a:r>
              <a:rPr lang="en" sz="1400" b="0" dirty="0"/>
              <a:t>  Rule 7. The options must include today's way of working, the strongest simpler alternative, and the proposal, each in its place; a missing option, role, boundary, or comparison raises a gap flag.</a:t>
            </a:r>
          </a:p>
          <a:p>
            <a:pPr marL="285750" indent="-285750">
              <a:buFont typeface="Arial"/>
              <a:buChar char="-"/>
            </a:pPr>
            <a:r>
              <a:rPr lang="en" sz="1400" b="0" dirty="0"/>
              <a:t>  Rule 8. A comparison with no recorded result, without acceptable evidence, or contradicting its counterpart raises a gap flag, unless every admissible value leaves the result unchanged, which is noted.</a:t>
            </a:r>
          </a:p>
          <a:p>
            <a:pPr marL="285750" indent="-285750">
              <a:buFont typeface="Arial"/>
              <a:buChar char="-"/>
            </a:pPr>
            <a:r>
              <a:rPr lang="en" sz="1400" b="0" dirty="0"/>
              <a:t>How the result follows from the flags</a:t>
            </a:r>
          </a:p>
          <a:p>
            <a:pPr marL="285750" indent="-285750">
              <a:buFont typeface="Arial"/>
              <a:buChar char="-"/>
            </a:pPr>
            <a:r>
              <a:rPr lang="en" sz="1400" b="0" dirty="0"/>
              <a:t>  Rule 9. Options are read in order from least to most run-time freedom; when every gap is settled, the least free option that carries no stop flag is the indicated option, subject to any condition flags it carries.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How the result was reached (continued)</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  Rule 10. While a gap flag remains on an option that could still be indicated, or on the options as a whole, the result is that more evidence is needed.</a:t>
            </a:r>
          </a:p>
          <a:p>
            <a:pPr marL="285750" indent="-285750">
              <a:buFont typeface="Arial"/>
              <a:buChar char="-"/>
            </a:pPr>
            <a:r>
              <a:rPr lang="en" sz="1400" b="0" dirty="0"/>
              <a:t>  Rule 11. When every option carries a stop flag, no option can be indicated.</a:t>
            </a:r>
          </a:p>
          <a:p>
            <a:pPr marL="285750" indent="-285750">
              <a:buFont typeface="Arial"/>
              <a:buChar char="-"/>
            </a:pPr>
            <a:r>
              <a:rPr lang="en" sz="1400" b="0" dirty="0"/>
              <a:t>Flags are not counted or totalled. A stop flag is never offset by fit flags. The decision rests with the accountable owner.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38200" y="365125"/>
            <a:ext cx="10515600" cy="1000125"/>
          </a:xfrm>
          <a:prstGeom prst="rect">
            <a:avLst/>
          </a:prstGeom>
          <a:noFill/>
        </p:spPr>
        <p:txBody>
          <a:bodyPr wrap="square">
            <a:normAutofit/>
          </a:bodyPr>
          <a:lstStyle/>
          <a:p>
            <a:pPr/>
            <a:r>
              <a:rPr lang="en" sz="2800" b="1" dirty="0"/>
              <a:t>Masking Notice</a:t>
            </a:r>
          </a:p>
        </p:txBody>
      </p:sp>
      <p:sp>
        <p:nvSpPr>
          <p:cNvPr id="3" name="Body"/>
          <p:cNvSpPr txBox="1"/>
          <p:nvPr/>
        </p:nvSpPr>
        <p:spPr>
          <a:xfrm>
            <a:off x="838200" y="1547813"/>
            <a:ext cx="10515600" cy="4471987"/>
          </a:xfrm>
          <a:prstGeom prst="rect">
            <a:avLst/>
          </a:prstGeom>
          <a:noFill/>
        </p:spPr>
        <p:txBody>
          <a:bodyPr wrap="square">
            <a:normAutofit/>
          </a:bodyPr>
          <a:lstStyle/>
          <a:p>
            <a:pPr marL="285750" indent="-285750">
              <a:buFont typeface="Arial"/>
              <a:buChar char="-"/>
            </a:pPr>
            <a:r>
              <a:rPr lang="en" sz="1400" b="0" dirty="0"/>
              <a:t>Policy version: 1</a:t>
            </a:r>
          </a:p>
          <a:p>
            <a:pPr marL="285750" indent="-285750">
              <a:buFont typeface="Arial"/>
              <a:buChar char="-"/>
            </a:pPr>
            <a:r>
              <a:rPr lang="en" sz="1400" b="0" dirty="0"/>
              <a:t>This record was emitted with deterministic sensitive-value masking (policy version 1). It is not guaranteed to be sensitive-data-free and still requires handling appropriate to its source material.</a:t>
            </a:r>
          </a:p>
        </p:txBody>
      </p:sp>
    </p:spTree>
  </p:cSld>
  <p:clrMapOvr>
    <a:masterClrMapping/>
  </p:clrMapOvr>
</p:sld>
</file>

<file path=ppt/theme/theme1.xml><?xml version="1.0" encoding="utf-8"?>
<a:theme xmlns:a="http://schemas.openxmlformats.org/drawingml/2006/main" name="ArchSift">
  <a:themeElements>
    <a:clrScheme name="ArchSift">
      <a:dk1>
        <a:sysClr val="windowText" lastClr="000000"/>
      </a:dk1>
      <a:lt1>
        <a:sysClr val="window" lastClr="FFFFFF"/>
      </a:lt1>
      <a:dk2>
        <a:srgbClr val="1F2933"/>
      </a:dk2>
      <a:lt2>
        <a:srgbClr val="F5F7FA"/>
      </a:lt2>
      <a:accent1>
        <a:srgbClr val="2B6CB0"/>
      </a:accent1>
      <a:accent2>
        <a:srgbClr val="2C7A7B"/>
      </a:accent2>
      <a:accent3>
        <a:srgbClr val="975A16"/>
      </a:accent3>
      <a:accent4>
        <a:srgbClr val="9B2C2C"/>
      </a:accent4>
      <a:accent5>
        <a:srgbClr val="553C9A"/>
      </a:accent5>
      <a:accent6>
        <a:srgbClr val="2F855A"/>
      </a:accent6>
      <a:hlink>
        <a:srgbClr val="2B6CB0"/>
      </a:hlink>
      <a:folHlink>
        <a:srgbClr val="553C9A"/>
      </a:folHlink>
    </a:clrScheme>
    <a:fontScheme name="ArchSift">
      <a:majorFont>
        <a:latin typeface="Arial"/>
        <a:ea typeface=""/>
        <a:cs typeface=""/>
      </a:majorFont>
      <a:minorFont>
        <a:latin typeface="Arial"/>
        <a:ea typeface=""/>
        <a:cs typeface=""/>
      </a:minorFont>
    </a:fontScheme>
    <a:fmtScheme name="ArchSift">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ArchSift</Application>
  <Slides>12</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dc:title>ArchSift Executive Summary</dc:title>
  <dc:subject>Fictional decision with an unresolved comparison</dc:subject>
  <dc:identifier>sha256:8791aeda29e64e088499a7af0d3c53a772432738ae5c5885ebf20dfd284c4bf0</dc:identifier>
  <cp:revision>1</cp:revision>
</cp:coreProperties>
</file>